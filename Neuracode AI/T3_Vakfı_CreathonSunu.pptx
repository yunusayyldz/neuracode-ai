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ptos Bold" panose="020B000402020202020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24745" y="309859"/>
            <a:ext cx="194355" cy="194303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692829" y="309859"/>
            <a:ext cx="194355" cy="194303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67619" y="309859"/>
            <a:ext cx="194355" cy="194303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1047788"/>
            <a:ext cx="916032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91"/>
              </a:lnSpc>
            </a:pPr>
            <a:r>
              <a:rPr lang="en-US" sz="1576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T3 VAKFI BURSİYER YAPAY ZEKÂ CREATHONU 2026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435" y="1912572"/>
            <a:ext cx="7375855" cy="68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04"/>
              </a:lnSpc>
            </a:pPr>
            <a:r>
              <a:rPr lang="en-US" sz="4503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PROJE SUNUMU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435" y="4292892"/>
            <a:ext cx="8473992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2"/>
              </a:lnSpc>
            </a:pPr>
            <a:r>
              <a:rPr lang="en-US" sz="2702" dirty="0" err="1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Takım</a:t>
            </a:r>
            <a:r>
              <a:rPr lang="en-US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2" dirty="0" err="1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Adı</a:t>
            </a:r>
            <a:r>
              <a:rPr lang="en-US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tr-TR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Piri</a:t>
            </a:r>
            <a:endParaRPr lang="en-US" sz="2702" dirty="0">
              <a:solidFill>
                <a:srgbClr val="232B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2"/>
              </a:lnSpc>
            </a:pPr>
            <a:endParaRPr lang="en-US" sz="2702" dirty="0">
              <a:solidFill>
                <a:srgbClr val="232B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2"/>
              </a:lnSpc>
            </a:pPr>
            <a:endParaRPr lang="en-US" sz="2702" dirty="0">
              <a:solidFill>
                <a:srgbClr val="232B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2"/>
              </a:lnSpc>
            </a:pPr>
            <a:r>
              <a:rPr lang="en-US" sz="2702" dirty="0" err="1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Başvuru</a:t>
            </a:r>
            <a:r>
              <a:rPr lang="en-US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 ID: </a:t>
            </a:r>
            <a:r>
              <a:rPr lang="tr-TR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#5393078</a:t>
            </a:r>
            <a:endParaRPr lang="en-US" sz="2702" dirty="0">
              <a:solidFill>
                <a:srgbClr val="232B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2"/>
              </a:lnSpc>
            </a:pPr>
            <a:endParaRPr lang="en-US" sz="2702" dirty="0">
              <a:solidFill>
                <a:srgbClr val="232B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2"/>
              </a:lnSpc>
            </a:pPr>
            <a:endParaRPr lang="en-US" sz="2702" dirty="0">
              <a:solidFill>
                <a:srgbClr val="232B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2"/>
              </a:lnSpc>
            </a:pPr>
            <a:r>
              <a:rPr lang="en-US" sz="2702" dirty="0" err="1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Seçtiği</a:t>
            </a:r>
            <a:r>
              <a:rPr lang="tr-TR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702" dirty="0" err="1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iz</a:t>
            </a:r>
            <a:r>
              <a:rPr lang="en-US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 Problem:  </a:t>
            </a:r>
            <a:r>
              <a:rPr lang="tr-TR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TEKNOFEST Yapay Zeka Destekli SSS ve </a:t>
            </a:r>
            <a:r>
              <a:rPr lang="tr-TR" sz="2702" dirty="0" err="1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Chatbot</a:t>
            </a:r>
            <a:r>
              <a:rPr lang="tr-TR" sz="2702" dirty="0">
                <a:solidFill>
                  <a:srgbClr val="232B32"/>
                </a:solidFill>
                <a:latin typeface="Montserrat"/>
                <a:ea typeface="Montserrat"/>
                <a:cs typeface="Montserrat"/>
                <a:sym typeface="Montserrat"/>
              </a:rPr>
              <a:t> Asistanı</a:t>
            </a:r>
            <a:endParaRPr lang="en-US" sz="2702" dirty="0">
              <a:solidFill>
                <a:srgbClr val="232B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0984886" y="1397456"/>
            <a:ext cx="5715657" cy="7500128"/>
            <a:chOff x="0" y="0"/>
            <a:chExt cx="7620876" cy="100001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20889" cy="10000107"/>
            </a:xfrm>
            <a:custGeom>
              <a:avLst/>
              <a:gdLst/>
              <a:ahLst/>
              <a:cxnLst/>
              <a:rect l="l" t="t" r="r" b="b"/>
              <a:pathLst>
                <a:path w="7620889" h="10000107">
                  <a:moveTo>
                    <a:pt x="0" y="1270127"/>
                  </a:moveTo>
                  <a:cubicBezTo>
                    <a:pt x="0" y="568706"/>
                    <a:pt x="568706" y="0"/>
                    <a:pt x="1270127" y="0"/>
                  </a:cubicBezTo>
                  <a:lnTo>
                    <a:pt x="6350762" y="0"/>
                  </a:lnTo>
                  <a:cubicBezTo>
                    <a:pt x="7052310" y="0"/>
                    <a:pt x="7620889" y="568706"/>
                    <a:pt x="7620889" y="1270127"/>
                  </a:cubicBezTo>
                  <a:lnTo>
                    <a:pt x="7620889" y="8729980"/>
                  </a:lnTo>
                  <a:cubicBezTo>
                    <a:pt x="7620889" y="9431528"/>
                    <a:pt x="7052183" y="10000107"/>
                    <a:pt x="6350762" y="10000107"/>
                  </a:cubicBezTo>
                  <a:lnTo>
                    <a:pt x="1270127" y="10000107"/>
                  </a:lnTo>
                  <a:cubicBezTo>
                    <a:pt x="568706" y="10000234"/>
                    <a:pt x="0" y="9431528"/>
                    <a:pt x="0" y="8729980"/>
                  </a:cubicBezTo>
                  <a:close/>
                </a:path>
              </a:pathLst>
            </a:custGeom>
            <a:solidFill>
              <a:srgbClr val="F2F7FA"/>
            </a:solidFill>
            <a:ln w="19065" cap="sq">
              <a:solidFill>
                <a:srgbClr val="E5EDF2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3412591" y="1712885"/>
            <a:ext cx="148843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1"/>
              </a:lnSpc>
            </a:pPr>
            <a:r>
              <a:rPr lang="en-US" sz="1601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SUNUM İÇERİĞİ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20881" y="2498294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38984" y="2461641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Problem ve İhtiyaç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17366" y="3550654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38984" y="3532327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Çözüm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17366" y="4603013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38984" y="4603013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Hedef Kullanıcı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17366" y="5673700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38984" y="5673700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Çalışma Yapısı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17366" y="6744386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38984" y="6744386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Yapay Zekâ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156807" y="2498294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78425" y="2465560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Prototip / Ürün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156807" y="3532327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678425" y="3532327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İş Modeli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156807" y="4603013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678425" y="4603013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Rakipler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156807" y="5673700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78425" y="5673700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Ekip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678425" y="6734960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Sonraki Adımlar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156807" y="6744386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156807" y="7782677"/>
            <a:ext cx="375228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678425" y="7773251"/>
            <a:ext cx="1816532" cy="2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Kapanış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4435" y="782784"/>
            <a:ext cx="8189180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01 / Problem - İhtiyaç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82701" y="2941711"/>
            <a:ext cx="7294226" cy="1734903"/>
            <a:chOff x="0" y="0"/>
            <a:chExt cx="9725635" cy="23132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157602" y="3216612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PROBLEMİN TANIMI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7602" y="3728704"/>
            <a:ext cx="6744424" cy="106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TEKNOFEST yarışmalarına katılan yarışmacılar, her yarışma için ayrı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yayımlanan teknik şartname, kılavuz ve SSS belgeleri arasında doğru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bilgiyi bulmakta zorlanmaktadır. Projenin tasarım ilkesi de (kaynaklarda net karşılık yoksa soruyu destek ekibine yönlendirir) bu ihtiyacı doğrudan yansıtır.</a:t>
            </a:r>
          </a:p>
          <a:p>
            <a:pPr algn="l">
              <a:lnSpc>
                <a:spcPts val="1655"/>
              </a:lnSpc>
            </a:pPr>
            <a:r>
              <a:rPr lang="en-US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Aptos"/>
                <a:cs typeface="Aptos"/>
                <a:sym typeface="Aptos"/>
              </a:rPr>
              <a:t>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82701" y="4890907"/>
            <a:ext cx="7294226" cy="1734903"/>
            <a:chOff x="0" y="0"/>
            <a:chExt cx="9725635" cy="23132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157602" y="5165808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KİMİN İÇİN / ÖLÇEK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7602" y="5677900"/>
            <a:ext cx="6744424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Birincil kullanıcı: TEKNOFEST yarışmalarına katılan yarışmacılar/takımlar.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Sistem gerçek bir veri kümesiyle test edildi: 57 gerçek TEKNOFEST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Yarışması dahilinde 200’den fazla gerçek şartname/kılavuz belgesi.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82701" y="6811127"/>
            <a:ext cx="7294226" cy="1734903"/>
            <a:chOff x="0" y="0"/>
            <a:chExt cx="9725635" cy="23132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157602" y="7115004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MEVCUT DURUM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7602" y="7627096"/>
            <a:ext cx="6744424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Kanıt yetersiz kaldığında sistem kullanıcıyı "ilgili yarışmanın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koordinatörlüğüne veya TEKNOFEST resmi destek kanalına" yönlendirir,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yani koordinatörle/destek kanalıyla doğrudan iletişim anlamına gelir.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706936" y="2941711"/>
            <a:ext cx="7911942" cy="5619559"/>
            <a:chOff x="0" y="0"/>
            <a:chExt cx="10549255" cy="749274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49255" cy="7492746"/>
            </a:xfrm>
            <a:custGeom>
              <a:avLst/>
              <a:gdLst/>
              <a:ahLst/>
              <a:cxnLst/>
              <a:rect l="l" t="t" r="r" b="b"/>
              <a:pathLst>
                <a:path w="10549255" h="7492746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300464" y="0"/>
                  </a:lnTo>
                  <a:cubicBezTo>
                    <a:pt x="9990201" y="0"/>
                    <a:pt x="10549255" y="559054"/>
                    <a:pt x="10549255" y="1248791"/>
                  </a:cubicBezTo>
                  <a:lnTo>
                    <a:pt x="10549255" y="6243955"/>
                  </a:lnTo>
                  <a:cubicBezTo>
                    <a:pt x="10549255" y="6933692"/>
                    <a:pt x="9990201" y="7492746"/>
                    <a:pt x="9300464" y="7492746"/>
                  </a:cubicBezTo>
                  <a:lnTo>
                    <a:pt x="1248791" y="7492746"/>
                  </a:lnTo>
                  <a:cubicBezTo>
                    <a:pt x="559054" y="7492746"/>
                    <a:pt x="0" y="6933692"/>
                    <a:pt x="0" y="62439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  <p:txBody>
            <a:bodyPr/>
            <a:lstStyle/>
            <a:p>
              <a:endParaRPr lang="tr-TR" dirty="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036748" y="3244072"/>
            <a:ext cx="725231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36748" y="3756155"/>
            <a:ext cx="725231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</a:t>
            </a:r>
            <a:r>
              <a:rPr lang="en-US" sz="1351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alana</a:t>
            </a:r>
            <a:r>
              <a:rPr lang="en-US" sz="1351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51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anlatımı</a:t>
            </a:r>
            <a:r>
              <a:rPr lang="en-US" sz="1351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51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destekleyen</a:t>
            </a:r>
            <a:r>
              <a:rPr lang="en-US" sz="1351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51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görselinizi</a:t>
            </a:r>
            <a:r>
              <a:rPr lang="en-US" sz="1351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51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yerleştirin</a:t>
            </a:r>
            <a:r>
              <a:rPr lang="en-US" sz="1351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7424745" y="309859"/>
            <a:ext cx="194355" cy="194303"/>
            <a:chOff x="0" y="0"/>
            <a:chExt cx="235890" cy="23582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7692829" y="309859"/>
            <a:ext cx="194355" cy="194303"/>
            <a:chOff x="0" y="0"/>
            <a:chExt cx="235890" cy="23582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7967619" y="309859"/>
            <a:ext cx="194355" cy="194303"/>
            <a:chOff x="0" y="0"/>
            <a:chExt cx="235890" cy="23582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pic>
        <p:nvPicPr>
          <p:cNvPr id="40" name="Resim 39">
            <a:extLst>
              <a:ext uri="{FF2B5EF4-FFF2-40B4-BE49-F238E27FC236}">
                <a16:creationId xmlns:a16="http://schemas.microsoft.com/office/drawing/2014/main" id="{FE46B714-5581-1CF6-C4AB-220974645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936" y="2941711"/>
            <a:ext cx="7951546" cy="5604300"/>
          </a:xfrm>
          <a:prstGeom prst="round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7719808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02 / Çözüm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7294226" cy="1734903"/>
            <a:chOff x="0" y="0"/>
            <a:chExt cx="9725635" cy="23132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ÇÖZÜMÜN ÖZETİ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602" y="3728704"/>
            <a:ext cx="6744424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Piri, TEKNOFEST yarışma belgelerini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indeksleyip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yarışmacıların doğal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dilde sorduğu sorulara, yalnızca bu belgelere dayanarak yanıt veren bir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RAG tabanlı sohbet asistanıdır.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82701" y="4890907"/>
            <a:ext cx="7294226" cy="1734903"/>
            <a:chOff x="0" y="0"/>
            <a:chExt cx="9725635" cy="2313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7602" y="5165808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TEMEL ÖZELLİKLER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7602" y="5351215"/>
            <a:ext cx="6744424" cy="127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Hibrit arama: vektör (anlamsal) + BM25 (kelime bazlı) arama, RRF ile birleştirilir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Yarışma-özel / genel (SSS) bağlam ayrımı, otomatik yarışma tespiti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Yalnızca kaynak pasajlara dayalı yanıt üretimi (kanıt yoksa yönlendirme)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Kaynak gösterimi + güven seviyesi rozeti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Belge sürüm takibi (eski sürüm pasife alınır, silinmez)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Sohbet geçmişi bağlamı (takip sorularını anlama)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82701" y="6840103"/>
            <a:ext cx="7294226" cy="1734903"/>
            <a:chOff x="0" y="0"/>
            <a:chExt cx="9725635" cy="23132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7602" y="7115004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SOMUT FAYDA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602" y="7627096"/>
            <a:ext cx="6744424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Yarışmacının kendi sorusuna anında, kaynağı gösterilmiş bir yanıt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bulması; gereksiz yere mail/sosyal medya yoluyla insana yönlenen soru sayısının azaltılması hedeflenmektedir.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706936" y="2941711"/>
            <a:ext cx="7911932" cy="5619569"/>
            <a:chOff x="0" y="0"/>
            <a:chExt cx="10549242" cy="74927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9255" cy="7492746"/>
            </a:xfrm>
            <a:custGeom>
              <a:avLst/>
              <a:gdLst/>
              <a:ahLst/>
              <a:cxnLst/>
              <a:rect l="l" t="t" r="r" b="b"/>
              <a:pathLst>
                <a:path w="10549255" h="7492746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300464" y="0"/>
                  </a:lnTo>
                  <a:cubicBezTo>
                    <a:pt x="9990201" y="0"/>
                    <a:pt x="10549255" y="559054"/>
                    <a:pt x="10549255" y="1248791"/>
                  </a:cubicBezTo>
                  <a:lnTo>
                    <a:pt x="10549255" y="6243955"/>
                  </a:lnTo>
                  <a:cubicBezTo>
                    <a:pt x="10549255" y="6933692"/>
                    <a:pt x="9990201" y="7492746"/>
                    <a:pt x="9300464" y="7492746"/>
                  </a:cubicBezTo>
                  <a:lnTo>
                    <a:pt x="1248791" y="7492746"/>
                  </a:lnTo>
                  <a:cubicBezTo>
                    <a:pt x="559054" y="7492746"/>
                    <a:pt x="0" y="6933692"/>
                    <a:pt x="0" y="62439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036748" y="3244072"/>
            <a:ext cx="725231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36748" y="3756155"/>
            <a:ext cx="725231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</a:t>
            </a:r>
          </a:p>
        </p:txBody>
      </p:sp>
      <p:pic>
        <p:nvPicPr>
          <p:cNvPr id="38" name="Resim 37">
            <a:extLst>
              <a:ext uri="{FF2B5EF4-FFF2-40B4-BE49-F238E27FC236}">
                <a16:creationId xmlns:a16="http://schemas.microsoft.com/office/drawing/2014/main" id="{FD797E71-CA73-2B55-F892-4D388616D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936" y="2941712"/>
            <a:ext cx="7911942" cy="56195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7993608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03 / Hedef Kullanıcı - Kullanım Senaryosu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7294226" cy="1734903"/>
            <a:chOff x="0" y="0"/>
            <a:chExt cx="9725635" cy="23132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BİRİNCİL HEDEF KULLANICI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602" y="3728704"/>
            <a:ext cx="5395598" cy="637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TEKNOFEST yarışmalarına katılan yarışmacılar (bireysel/takım). İkincil kullanıcı: kaynak havuzunu ve soru-cevap sürecini yöneten destek/içerik ekibi (yönetim paneli kullanıcıları).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82701" y="4890907"/>
            <a:ext cx="7294226" cy="1734903"/>
            <a:chOff x="0" y="0"/>
            <a:chExt cx="9725635" cy="2313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7602" y="5165808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KULLANIM SENARYOSU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8647" y="5408857"/>
            <a:ext cx="7118299" cy="1200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1. Yarışmacı, giriş/kayıt gerekmeden sohbet ekranına gelir.</a:t>
            </a:r>
          </a:p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2. İsteğe bağlı bir yarışma seçer (ya da soru metninde adı geçiyorsa sistem otomatik tespit eder).</a:t>
            </a:r>
          </a:p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3. Doğal dilde soru yazar.</a:t>
            </a:r>
          </a:p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4. Sistem hibrit arama ile ilgili belge parçalarını bulur.</a:t>
            </a:r>
          </a:p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5. </a:t>
            </a:r>
            <a:r>
              <a:rPr lang="tr-T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AI</a:t>
            </a:r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, yalnızca bulunan parçalara dayanarak yanıt üretir; kanıt yetersizse destek ekibine yönlendirir.</a:t>
            </a:r>
          </a:p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6. Kullanıcı yanıtı, kaynağı ve güven seviyesini görür.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82701" y="6840103"/>
            <a:ext cx="7294226" cy="1734903"/>
            <a:chOff x="0" y="0"/>
            <a:chExt cx="9725635" cy="23132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7602" y="7115004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ETKİLEŞİM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602" y="7627096"/>
            <a:ext cx="5166998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Tek bir sohbet arayüzü üzerinden gerçek zamanlı soru-cevap. Ayrı bir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yönetim paneli, insan destek ekibinin yanıtsız soruları görüp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yanıtlamasını ve bu yanıtların SSS havuzuna eklenmesini sağlar.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706936" y="2941711"/>
            <a:ext cx="7911932" cy="5619569"/>
            <a:chOff x="0" y="0"/>
            <a:chExt cx="10549242" cy="74927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9255" cy="7492746"/>
            </a:xfrm>
            <a:custGeom>
              <a:avLst/>
              <a:gdLst/>
              <a:ahLst/>
              <a:cxnLst/>
              <a:rect l="l" t="t" r="r" b="b"/>
              <a:pathLst>
                <a:path w="10549255" h="7492746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300464" y="0"/>
                  </a:lnTo>
                  <a:cubicBezTo>
                    <a:pt x="9990201" y="0"/>
                    <a:pt x="10549255" y="559054"/>
                    <a:pt x="10549255" y="1248791"/>
                  </a:cubicBezTo>
                  <a:lnTo>
                    <a:pt x="10549255" y="6243955"/>
                  </a:lnTo>
                  <a:cubicBezTo>
                    <a:pt x="10549255" y="6933692"/>
                    <a:pt x="9990201" y="7492746"/>
                    <a:pt x="9300464" y="7492746"/>
                  </a:cubicBezTo>
                  <a:lnTo>
                    <a:pt x="1248791" y="7492746"/>
                  </a:lnTo>
                  <a:cubicBezTo>
                    <a:pt x="559054" y="7492746"/>
                    <a:pt x="0" y="6933692"/>
                    <a:pt x="0" y="62439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036748" y="3244072"/>
            <a:ext cx="725231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36748" y="3756155"/>
            <a:ext cx="725231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</a:t>
            </a:r>
          </a:p>
        </p:txBody>
      </p:sp>
      <p:pic>
        <p:nvPicPr>
          <p:cNvPr id="42" name="Resim 41">
            <a:extLst>
              <a:ext uri="{FF2B5EF4-FFF2-40B4-BE49-F238E27FC236}">
                <a16:creationId xmlns:a16="http://schemas.microsoft.com/office/drawing/2014/main" id="{77960AF8-5CD4-AF4A-E1CC-2738EAB44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936" y="2941711"/>
            <a:ext cx="7911942" cy="56195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9571220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04 / Çözümün Çalışma Yapısı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435" y="2145935"/>
            <a:ext cx="15611894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Sistemin nasıl çalıştığını sade bir mimari ve akış üzerinden gösterin.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0" y="2941711"/>
            <a:ext cx="6051509" cy="1973892"/>
            <a:chOff x="0" y="0"/>
            <a:chExt cx="6522733" cy="28622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22720" cy="2862199"/>
            </a:xfrm>
            <a:custGeom>
              <a:avLst/>
              <a:gdLst/>
              <a:ahLst/>
              <a:cxnLst/>
              <a:rect l="l" t="t" r="r" b="b"/>
              <a:pathLst>
                <a:path w="6522720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045708" y="0"/>
                  </a:lnTo>
                  <a:cubicBezTo>
                    <a:pt x="6309233" y="0"/>
                    <a:pt x="6522720" y="213614"/>
                    <a:pt x="6522720" y="477012"/>
                  </a:cubicBezTo>
                  <a:lnTo>
                    <a:pt x="6522720" y="2385187"/>
                  </a:lnTo>
                  <a:cubicBezTo>
                    <a:pt x="6522720" y="2648712"/>
                    <a:pt x="6309106" y="2862199"/>
                    <a:pt x="6045708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5371398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TEMEL MİMARİ / AKIŞ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2530" y="3508010"/>
            <a:ext cx="5659269" cy="1091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1 </a:t>
            </a:r>
            <a:r>
              <a:rPr lang="tr-TR" sz="105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Frontend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(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React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+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TypeScript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2 →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Backend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(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Workers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,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TypeScript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, sunucusuz)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3 →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Veritabanı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(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D1) + Vektör arama (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Vectorize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) + Dosya depolama (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KV)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4 → Yapay zekâ (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Workers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AI + Google Gemini API).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82690" y="5212253"/>
            <a:ext cx="6051509" cy="1760047"/>
            <a:chOff x="0" y="0"/>
            <a:chExt cx="6522733" cy="28622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22720" cy="2862199"/>
            </a:xfrm>
            <a:custGeom>
              <a:avLst/>
              <a:gdLst/>
              <a:ahLst/>
              <a:cxnLst/>
              <a:rect l="l" t="t" r="r" b="b"/>
              <a:pathLst>
                <a:path w="6522720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045708" y="0"/>
                  </a:lnTo>
                  <a:cubicBezTo>
                    <a:pt x="6309233" y="0"/>
                    <a:pt x="6522720" y="213614"/>
                    <a:pt x="6522720" y="477012"/>
                  </a:cubicBezTo>
                  <a:lnTo>
                    <a:pt x="6522720" y="2385187"/>
                  </a:lnTo>
                  <a:cubicBezTo>
                    <a:pt x="6522720" y="2648712"/>
                    <a:pt x="6309106" y="2862199"/>
                    <a:pt x="6045708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7592" y="5638162"/>
            <a:ext cx="5371398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GİRDİ → İŞLEME → ÇIKTI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7117" y="5926279"/>
            <a:ext cx="5371398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tr-TR" sz="10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  <a:sym typeface="Wingdings" panose="05000000000000000000" pitchFamily="2" charset="2"/>
              </a:rPr>
              <a:t> </a:t>
            </a: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sym typeface="Wingdings" panose="05000000000000000000" pitchFamily="2" charset="2"/>
              </a:rPr>
              <a:t>Girdi - 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Kullanıcı sorusu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→ İşleme - Soru netleştirme (sohbet geçmişi varsa)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→ İşleme - hibrit arama (vektör + BM25 + RRF füzyonu)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→ İşleme - yapay zekâ ile yapılandırılmış yanıt üretimi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→ Çıktı - Kaynak gösterimli, güven seviyeli yanıt.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82690" y="7344134"/>
            <a:ext cx="6051509" cy="2488762"/>
            <a:chOff x="0" y="0"/>
            <a:chExt cx="6522733" cy="28622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22720" cy="2862199"/>
            </a:xfrm>
            <a:custGeom>
              <a:avLst/>
              <a:gdLst/>
              <a:ahLst/>
              <a:cxnLst/>
              <a:rect l="l" t="t" r="r" b="b"/>
              <a:pathLst>
                <a:path w="6522720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6045708" y="0"/>
                  </a:lnTo>
                  <a:cubicBezTo>
                    <a:pt x="6309233" y="0"/>
                    <a:pt x="6522720" y="213614"/>
                    <a:pt x="6522720" y="477012"/>
                  </a:cubicBezTo>
                  <a:lnTo>
                    <a:pt x="6522720" y="2385187"/>
                  </a:lnTo>
                  <a:cubicBezTo>
                    <a:pt x="6522720" y="2648712"/>
                    <a:pt x="6309106" y="2862199"/>
                    <a:pt x="6045708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7592" y="7619035"/>
            <a:ext cx="5371398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TEKNOLOJİ BİLEŞENLERİ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592" y="7837043"/>
            <a:ext cx="5371398" cy="1911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 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React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,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TypeScript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,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Vite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Workers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D1 (SQL)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Vectorize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Cloudflare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KV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PBKDF2-HMAC-SHA256 +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Bearer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token</a:t>
            </a: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kimlik doğrulama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`qwen3-embedding-0.6b` (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embedding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   Google Gemini (birincil üretim) 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· `qwen3-30b-a3b-fp8` (yedek üretim)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935650" y="2941712"/>
            <a:ext cx="9029119" cy="6562504"/>
            <a:chOff x="0" y="0"/>
            <a:chExt cx="20615504" cy="41434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615529" cy="4143502"/>
            </a:xfrm>
            <a:custGeom>
              <a:avLst/>
              <a:gdLst/>
              <a:ahLst/>
              <a:cxnLst/>
              <a:rect l="l" t="t" r="r" b="b"/>
              <a:pathLst>
                <a:path w="20615529" h="4143502">
                  <a:moveTo>
                    <a:pt x="0" y="690626"/>
                  </a:moveTo>
                  <a:cubicBezTo>
                    <a:pt x="0" y="309245"/>
                    <a:pt x="309245" y="0"/>
                    <a:pt x="690626" y="0"/>
                  </a:cubicBezTo>
                  <a:lnTo>
                    <a:pt x="19924903" y="0"/>
                  </a:lnTo>
                  <a:cubicBezTo>
                    <a:pt x="20306285" y="0"/>
                    <a:pt x="20615529" y="309245"/>
                    <a:pt x="20615529" y="690626"/>
                  </a:cubicBezTo>
                  <a:lnTo>
                    <a:pt x="20615529" y="3452876"/>
                  </a:lnTo>
                  <a:cubicBezTo>
                    <a:pt x="20615529" y="3834257"/>
                    <a:pt x="20306285" y="4143502"/>
                    <a:pt x="19924903" y="4143502"/>
                  </a:cubicBezTo>
                  <a:lnTo>
                    <a:pt x="690626" y="4143502"/>
                  </a:lnTo>
                  <a:cubicBezTo>
                    <a:pt x="309245" y="4143375"/>
                    <a:pt x="0" y="3834257"/>
                    <a:pt x="0" y="34528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pic>
        <p:nvPicPr>
          <p:cNvPr id="40" name="Resim 39">
            <a:extLst>
              <a:ext uri="{FF2B5EF4-FFF2-40B4-BE49-F238E27FC236}">
                <a16:creationId xmlns:a16="http://schemas.microsoft.com/office/drawing/2014/main" id="{CBDE3314-725D-FC29-14B3-2A6B6515D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668" y="2917844"/>
            <a:ext cx="10530692" cy="65626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7837151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05 / Yapay Zekâ Kullanımı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4892050" cy="2970314"/>
            <a:chOff x="0" y="0"/>
            <a:chExt cx="6522733" cy="39604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22720" cy="3960368"/>
            </a:xfrm>
            <a:custGeom>
              <a:avLst/>
              <a:gdLst/>
              <a:ahLst/>
              <a:cxnLst/>
              <a:rect l="l" t="t" r="r" b="b"/>
              <a:pathLst>
                <a:path w="6522720" h="3960368">
                  <a:moveTo>
                    <a:pt x="0" y="660019"/>
                  </a:moveTo>
                  <a:cubicBezTo>
                    <a:pt x="0" y="295529"/>
                    <a:pt x="295529" y="0"/>
                    <a:pt x="660019" y="0"/>
                  </a:cubicBezTo>
                  <a:lnTo>
                    <a:pt x="5862701" y="0"/>
                  </a:lnTo>
                  <a:cubicBezTo>
                    <a:pt x="6227191" y="0"/>
                    <a:pt x="6522720" y="295529"/>
                    <a:pt x="6522720" y="660019"/>
                  </a:cubicBezTo>
                  <a:lnTo>
                    <a:pt x="6522720" y="3300349"/>
                  </a:lnTo>
                  <a:cubicBezTo>
                    <a:pt x="6522720" y="3664839"/>
                    <a:pt x="6227191" y="3960368"/>
                    <a:pt x="5862701" y="3960368"/>
                  </a:cubicBezTo>
                  <a:lnTo>
                    <a:pt x="660019" y="3960368"/>
                  </a:lnTo>
                  <a:cubicBezTo>
                    <a:pt x="295529" y="3960368"/>
                    <a:pt x="0" y="3664839"/>
                    <a:pt x="0" y="330034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4342247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MODEL / YÖNTEM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65876" y="4067670"/>
            <a:ext cx="306591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167495" y="2941711"/>
            <a:ext cx="4892050" cy="2970314"/>
            <a:chOff x="0" y="0"/>
            <a:chExt cx="6522733" cy="39604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22720" cy="3960368"/>
            </a:xfrm>
            <a:custGeom>
              <a:avLst/>
              <a:gdLst/>
              <a:ahLst/>
              <a:cxnLst/>
              <a:rect l="l" t="t" r="r" b="b"/>
              <a:pathLst>
                <a:path w="6522720" h="3960368">
                  <a:moveTo>
                    <a:pt x="0" y="660019"/>
                  </a:moveTo>
                  <a:cubicBezTo>
                    <a:pt x="0" y="295529"/>
                    <a:pt x="295529" y="0"/>
                    <a:pt x="660019" y="0"/>
                  </a:cubicBezTo>
                  <a:lnTo>
                    <a:pt x="5862701" y="0"/>
                  </a:lnTo>
                  <a:cubicBezTo>
                    <a:pt x="6227191" y="0"/>
                    <a:pt x="6522720" y="295529"/>
                    <a:pt x="6522720" y="660019"/>
                  </a:cubicBezTo>
                  <a:lnTo>
                    <a:pt x="6522720" y="3300349"/>
                  </a:lnTo>
                  <a:cubicBezTo>
                    <a:pt x="6522720" y="3664839"/>
                    <a:pt x="6227191" y="3960368"/>
                    <a:pt x="5862701" y="3960368"/>
                  </a:cubicBezTo>
                  <a:lnTo>
                    <a:pt x="660019" y="3960368"/>
                  </a:lnTo>
                  <a:cubicBezTo>
                    <a:pt x="295529" y="3960368"/>
                    <a:pt x="0" y="3664839"/>
                    <a:pt x="0" y="330034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6442396" y="3216612"/>
            <a:ext cx="4342247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NEREDEN DEVREYE GİRİYOR?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2396" y="3728704"/>
            <a:ext cx="4342247" cy="106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Ürünün doğrudan bir parçası (her soru-cevapta canlı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çalışır) — ayrıca geliştirme sürecinde bir yapay zekâ kodlama asistanı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(Claude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Code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) da kullanılmıştır (bu, ürünün kendisi değil, geliştirme aracıdır).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50660" y="4067670"/>
            <a:ext cx="306591" cy="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1">
                <a:solidFill>
                  <a:srgbClr val="EE7D24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452279" y="2941711"/>
            <a:ext cx="4892050" cy="2970314"/>
            <a:chOff x="0" y="0"/>
            <a:chExt cx="6522733" cy="39604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522720" cy="3960368"/>
            </a:xfrm>
            <a:custGeom>
              <a:avLst/>
              <a:gdLst/>
              <a:ahLst/>
              <a:cxnLst/>
              <a:rect l="l" t="t" r="r" b="b"/>
              <a:pathLst>
                <a:path w="6522720" h="3960368">
                  <a:moveTo>
                    <a:pt x="0" y="660019"/>
                  </a:moveTo>
                  <a:cubicBezTo>
                    <a:pt x="0" y="295529"/>
                    <a:pt x="295529" y="0"/>
                    <a:pt x="660019" y="0"/>
                  </a:cubicBezTo>
                  <a:lnTo>
                    <a:pt x="5862701" y="0"/>
                  </a:lnTo>
                  <a:cubicBezTo>
                    <a:pt x="6227191" y="0"/>
                    <a:pt x="6522720" y="295529"/>
                    <a:pt x="6522720" y="660019"/>
                  </a:cubicBezTo>
                  <a:lnTo>
                    <a:pt x="6522720" y="3300349"/>
                  </a:lnTo>
                  <a:cubicBezTo>
                    <a:pt x="6522720" y="3664839"/>
                    <a:pt x="6227191" y="3960368"/>
                    <a:pt x="5862701" y="3960368"/>
                  </a:cubicBezTo>
                  <a:lnTo>
                    <a:pt x="660019" y="3960368"/>
                  </a:lnTo>
                  <a:cubicBezTo>
                    <a:pt x="295529" y="3960368"/>
                    <a:pt x="0" y="3664839"/>
                    <a:pt x="0" y="330034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1727180" y="3216612"/>
            <a:ext cx="4342247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NEDEN YAPAY ZEKÂ?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727180" y="3728704"/>
            <a:ext cx="434224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Projenin tasarım ilkesi (doğal dilde soru-cevap, çok sayıda belge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içinde hızlı/doğru bilgi bulma, yanıt uydurmama) yapay zekâ/RAG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yaklaşımını gerektirir.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82701" y="6332210"/>
            <a:ext cx="15461628" cy="2146706"/>
            <a:chOff x="0" y="0"/>
            <a:chExt cx="20615504" cy="28622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615402" cy="2862199"/>
            </a:xfrm>
            <a:custGeom>
              <a:avLst/>
              <a:gdLst/>
              <a:ahLst/>
              <a:cxnLst/>
              <a:rect l="l" t="t" r="r" b="b"/>
              <a:pathLst>
                <a:path w="20615402" h="2862199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20138389" y="0"/>
                  </a:lnTo>
                  <a:cubicBezTo>
                    <a:pt x="20401914" y="0"/>
                    <a:pt x="20615402" y="213614"/>
                    <a:pt x="20615402" y="477012"/>
                  </a:cubicBezTo>
                  <a:lnTo>
                    <a:pt x="20615402" y="2385187"/>
                  </a:lnTo>
                  <a:cubicBezTo>
                    <a:pt x="20615402" y="2648712"/>
                    <a:pt x="20401787" y="2862199"/>
                    <a:pt x="20138389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212513" y="6634572"/>
            <a:ext cx="14802012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12513" y="7146655"/>
            <a:ext cx="14802012" cy="20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 </a:t>
            </a:r>
          </a:p>
        </p:txBody>
      </p:sp>
      <p:pic>
        <p:nvPicPr>
          <p:cNvPr id="41" name="Resim 40">
            <a:extLst>
              <a:ext uri="{FF2B5EF4-FFF2-40B4-BE49-F238E27FC236}">
                <a16:creationId xmlns:a16="http://schemas.microsoft.com/office/drawing/2014/main" id="{380608D0-765E-C11E-591D-12F4B346C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7561" r="-435" b="26457"/>
          <a:stretch/>
        </p:blipFill>
        <p:spPr>
          <a:xfrm>
            <a:off x="912109" y="6332210"/>
            <a:ext cx="15461551" cy="28797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029F2F8-A310-0E40-92BE-E0E9E74F2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634064"/>
              </p:ext>
            </p:extLst>
          </p:nvPr>
        </p:nvGraphicFramePr>
        <p:xfrm>
          <a:off x="1067243" y="3509477"/>
          <a:ext cx="4522956" cy="2177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652">
                  <a:extLst>
                    <a:ext uri="{9D8B030D-6E8A-4147-A177-3AD203B41FA5}">
                      <a16:colId xmlns:a16="http://schemas.microsoft.com/office/drawing/2014/main" val="4098482870"/>
                    </a:ext>
                  </a:extLst>
                </a:gridCol>
                <a:gridCol w="1507652">
                  <a:extLst>
                    <a:ext uri="{9D8B030D-6E8A-4147-A177-3AD203B41FA5}">
                      <a16:colId xmlns:a16="http://schemas.microsoft.com/office/drawing/2014/main" val="3507746296"/>
                    </a:ext>
                  </a:extLst>
                </a:gridCol>
                <a:gridCol w="1507652">
                  <a:extLst>
                    <a:ext uri="{9D8B030D-6E8A-4147-A177-3AD203B41FA5}">
                      <a16:colId xmlns:a16="http://schemas.microsoft.com/office/drawing/2014/main" val="472675899"/>
                    </a:ext>
                  </a:extLst>
                </a:gridCol>
              </a:tblGrid>
              <a:tr h="228845"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Görevi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Kullanım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291374"/>
                  </a:ext>
                </a:extLst>
              </a:tr>
              <a:tr h="743746"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Claude </a:t>
                      </a:r>
                      <a:r>
                        <a:rPr lang="tr-TR" sz="1300" dirty="0" err="1"/>
                        <a:t>Code</a:t>
                      </a:r>
                      <a:endParaRPr lang="tr-TR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Proje aşamasında kodlama/</a:t>
                      </a:r>
                      <a:r>
                        <a:rPr lang="tr-TR" sz="1300" dirty="0" err="1"/>
                        <a:t>bug</a:t>
                      </a:r>
                      <a:r>
                        <a:rPr lang="tr-TR" sz="1300" dirty="0"/>
                        <a:t> tespiti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Geliştirme aracı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590422"/>
                  </a:ext>
                </a:extLst>
              </a:tr>
              <a:tr h="572112"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Qwen3-Embedding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Metni anlam vektörüne çevirme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454441"/>
                  </a:ext>
                </a:extLst>
              </a:tr>
              <a:tr h="572112"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Gemini &amp; qwen3-30B(Yedek)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Metin üretimi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00" dirty="0"/>
                        <a:t>Kullanıcı sorularına cevap üretme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6089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6833216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06 / Mevcut Prototip / Ürün Durumu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9970941" cy="5578392"/>
            <a:chOff x="0" y="0"/>
            <a:chExt cx="13294589" cy="74378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294615" cy="7437882"/>
            </a:xfrm>
            <a:custGeom>
              <a:avLst/>
              <a:gdLst/>
              <a:ahLst/>
              <a:cxnLst/>
              <a:rect l="l" t="t" r="r" b="b"/>
              <a:pathLst>
                <a:path w="13294615" h="7437882">
                  <a:moveTo>
                    <a:pt x="0" y="1239647"/>
                  </a:moveTo>
                  <a:cubicBezTo>
                    <a:pt x="0" y="554990"/>
                    <a:pt x="554990" y="0"/>
                    <a:pt x="1239647" y="0"/>
                  </a:cubicBezTo>
                  <a:lnTo>
                    <a:pt x="12054967" y="0"/>
                  </a:lnTo>
                  <a:cubicBezTo>
                    <a:pt x="12739625" y="0"/>
                    <a:pt x="13294615" y="554990"/>
                    <a:pt x="13294615" y="1239647"/>
                  </a:cubicBezTo>
                  <a:lnTo>
                    <a:pt x="13294615" y="6198235"/>
                  </a:lnTo>
                  <a:cubicBezTo>
                    <a:pt x="13294615" y="6882892"/>
                    <a:pt x="12739625" y="7437882"/>
                    <a:pt x="12054967" y="7437882"/>
                  </a:cubicBezTo>
                  <a:lnTo>
                    <a:pt x="1239647" y="7437882"/>
                  </a:lnTo>
                  <a:cubicBezTo>
                    <a:pt x="554990" y="7437882"/>
                    <a:pt x="0" y="6882892"/>
                    <a:pt x="0" y="619823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212513" y="3244072"/>
            <a:ext cx="931132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2513" y="3756155"/>
            <a:ext cx="931132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218926" y="2941710"/>
            <a:ext cx="5125403" cy="1820789"/>
            <a:chOff x="0" y="0"/>
            <a:chExt cx="6833870" cy="218508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33870" cy="2185162"/>
            </a:xfrm>
            <a:custGeom>
              <a:avLst/>
              <a:gdLst/>
              <a:ahLst/>
              <a:cxnLst/>
              <a:rect l="l" t="t" r="r" b="b"/>
              <a:pathLst>
                <a:path w="6833870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469634" y="0"/>
                  </a:lnTo>
                  <a:cubicBezTo>
                    <a:pt x="6670802" y="0"/>
                    <a:pt x="6833870" y="163068"/>
                    <a:pt x="6833870" y="364236"/>
                  </a:cubicBezTo>
                  <a:lnTo>
                    <a:pt x="6833870" y="1820926"/>
                  </a:lnTo>
                  <a:cubicBezTo>
                    <a:pt x="6833870" y="2022094"/>
                    <a:pt x="6670802" y="2185162"/>
                    <a:pt x="6469634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493827" y="3216612"/>
            <a:ext cx="4575600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ÇALIŞAN KISIM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93827" y="3651486"/>
            <a:ext cx="4575600" cy="8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Sistem bir prototip değil, </a:t>
            </a:r>
            <a:r>
              <a:rPr lang="tr-TR" sz="138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«</a:t>
            </a:r>
            <a:r>
              <a:rPr lang="tr-TR" sz="138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gerçekten </a:t>
            </a:r>
            <a:r>
              <a:rPr lang="tr-TR" sz="1380" b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deploy</a:t>
            </a:r>
            <a:r>
              <a:rPr lang="tr-TR" sz="138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edilmiş ve çalışan»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bir üründür: yarışmacı sohbet ekranı, yönetim, belge yükleme/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versiyonlama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, hibrit arama ve yapay zekâ ile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yanıt üretimi uçtan uca çalışır durumda.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218926" y="4904631"/>
            <a:ext cx="5125403" cy="1820851"/>
            <a:chOff x="0" y="0"/>
            <a:chExt cx="6833870" cy="21850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33870" cy="2185162"/>
            </a:xfrm>
            <a:custGeom>
              <a:avLst/>
              <a:gdLst/>
              <a:ahLst/>
              <a:cxnLst/>
              <a:rect l="l" t="t" r="r" b="b"/>
              <a:pathLst>
                <a:path w="6833870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469634" y="0"/>
                  </a:lnTo>
                  <a:cubicBezTo>
                    <a:pt x="6670802" y="0"/>
                    <a:pt x="6833870" y="163068"/>
                    <a:pt x="6833870" y="364236"/>
                  </a:cubicBezTo>
                  <a:lnTo>
                    <a:pt x="6833870" y="1820926"/>
                  </a:lnTo>
                  <a:cubicBezTo>
                    <a:pt x="6833870" y="2022094"/>
                    <a:pt x="6670802" y="2185162"/>
                    <a:pt x="6469634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493827" y="5179533"/>
            <a:ext cx="4575600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GÖSTERİM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93827" y="5691626"/>
            <a:ext cx="4575600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Genel Bakış: Sık tekrarlanan konular  *1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Kaynak Havuzu: 300 belge, gerçek istatistikler  *2-3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- </a:t>
            </a:r>
            <a:r>
              <a:rPr lang="tr-TR" sz="138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Kullanıcılar&amp;Roller</a:t>
            </a:r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ve Ayarlar: Gerçek yönetim paneli  *4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218926" y="6867554"/>
            <a:ext cx="5125403" cy="1638814"/>
            <a:chOff x="0" y="0"/>
            <a:chExt cx="6833870" cy="218508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33870" cy="2185162"/>
            </a:xfrm>
            <a:custGeom>
              <a:avLst/>
              <a:gdLst/>
              <a:ahLst/>
              <a:cxnLst/>
              <a:rect l="l" t="t" r="r" b="b"/>
              <a:pathLst>
                <a:path w="6833870" h="2185162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6469634" y="0"/>
                  </a:lnTo>
                  <a:cubicBezTo>
                    <a:pt x="6670802" y="0"/>
                    <a:pt x="6833870" y="163068"/>
                    <a:pt x="6833870" y="364236"/>
                  </a:cubicBezTo>
                  <a:lnTo>
                    <a:pt x="6833870" y="1820926"/>
                  </a:lnTo>
                  <a:cubicBezTo>
                    <a:pt x="6833870" y="2022094"/>
                    <a:pt x="6670802" y="2185162"/>
                    <a:pt x="6469634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1493827" y="7142455"/>
            <a:ext cx="4575600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TAMAMLANMA SEVİYESİ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93827" y="7306096"/>
            <a:ext cx="4575600" cy="120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Ana ürün (soru-cevap, belge yönetimi, kullanıcı yönetimi) canlıda</a:t>
            </a:r>
          </a:p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çalışıyor. AI destek hizmeti iyileştirme ve yeni bir özellik seti (beğen/beğenme geri bildirimi, genişletilmiş analitik, güncellenmiş rol modeli) kodlanmış ve test edilmiş durumda, ayrı bir geliştirme dalında canlıya alınmayı</a:t>
            </a:r>
          </a:p>
          <a:p>
            <a:r>
              <a:rPr lang="tr-TR" sz="13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bekliyor.</a:t>
            </a:r>
          </a:p>
        </p:txBody>
      </p:sp>
      <p:pic>
        <p:nvPicPr>
          <p:cNvPr id="38" name="Resim 37">
            <a:extLst>
              <a:ext uri="{FF2B5EF4-FFF2-40B4-BE49-F238E27FC236}">
                <a16:creationId xmlns:a16="http://schemas.microsoft.com/office/drawing/2014/main" id="{829CA6C6-F264-E7FF-73E7-A2E362D2DF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870" y="2705100"/>
            <a:ext cx="5013990" cy="31337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0" name="Resim 39">
            <a:extLst>
              <a:ext uri="{FF2B5EF4-FFF2-40B4-BE49-F238E27FC236}">
                <a16:creationId xmlns:a16="http://schemas.microsoft.com/office/drawing/2014/main" id="{E70DE152-FDCF-E840-8B57-F2C3BE6105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80" y="5838844"/>
            <a:ext cx="5013990" cy="31337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Resim 41">
            <a:extLst>
              <a:ext uri="{FF2B5EF4-FFF2-40B4-BE49-F238E27FC236}">
                <a16:creationId xmlns:a16="http://schemas.microsoft.com/office/drawing/2014/main" id="{76665256-1B91-2F1F-786C-69B560459C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870" y="5838844"/>
            <a:ext cx="5013990" cy="31337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4" name="Resim 43">
            <a:extLst>
              <a:ext uri="{FF2B5EF4-FFF2-40B4-BE49-F238E27FC236}">
                <a16:creationId xmlns:a16="http://schemas.microsoft.com/office/drawing/2014/main" id="{C6E46719-3F1D-BD49-FEFD-D2F5991261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80" y="2705101"/>
            <a:ext cx="5013990" cy="31337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4355973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07 / İş Modeli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435" y="2145935"/>
            <a:ext cx="15611894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Değer önerisini, gelir modelini ve iş modelinin öne çıkan noktalarını özetleyin.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7294226" cy="1734903"/>
            <a:chOff x="0" y="0"/>
            <a:chExt cx="9725635" cy="23132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DEĞER ÖNERİSİ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602" y="3516185"/>
            <a:ext cx="6744424" cy="8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Yarışmacılara 7/24 anında, kaynağı açıkça gösterilen ve sadece şartnamelere dayalı güvenilir yanıtlar sunarak uydurma (halüsinasyon) riskini ortadan kaldıran; aynı zamanda binlerce tekrarlayan soruyu otomatik karşılayarak destek ekibinin iş yükünü ciddi oranda azaltan bir yapay zeka asistanıdır.</a:t>
            </a:r>
            <a:endParaRPr lang="en-US" sz="1380" dirty="0">
              <a:solidFill>
                <a:schemeClr val="tx1">
                  <a:lumMod val="50000"/>
                  <a:lumOff val="50000"/>
                </a:schemeClr>
              </a:solidFill>
              <a:latin typeface="Aptos" panose="020B0004020202020204" pitchFamily="34" charset="0"/>
              <a:ea typeface="Aptos"/>
              <a:cs typeface="Aptos"/>
              <a:sym typeface="Apto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82701" y="4890907"/>
            <a:ext cx="7294226" cy="1734903"/>
            <a:chOff x="0" y="0"/>
            <a:chExt cx="9725635" cy="2313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7602" y="5165808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GELİR MODELİ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0302" y="5442058"/>
            <a:ext cx="6744424" cy="64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Doğrudan bir gelir modeli hedeflenmemektedir; temel amaç operasyonel verimlilik ve insan-saati tasarrufudur. Potansiyel gelir modelleri: Benzer etkinlikler için </a:t>
            </a:r>
            <a:r>
              <a:rPr lang="tr-TR" sz="14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lisanslı </a:t>
            </a:r>
            <a:r>
              <a:rPr lang="tr-TR" sz="1400" b="1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SaaS</a:t>
            </a:r>
            <a:r>
              <a:rPr lang="tr-TR" sz="14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çözümü</a:t>
            </a:r>
            <a:r>
              <a:rPr lang="tr-T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 ve </a:t>
            </a:r>
            <a:r>
              <a:rPr lang="tr-TR" sz="14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kurumsal sponsorluk</a:t>
            </a:r>
            <a:r>
              <a:rPr lang="tr-TR" sz="1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 entegrasyonu.</a:t>
            </a:r>
            <a:endParaRPr lang="en-US" sz="1380" dirty="0">
              <a:solidFill>
                <a:schemeClr val="tx1">
                  <a:lumMod val="50000"/>
                  <a:lumOff val="50000"/>
                </a:schemeClr>
              </a:solidFill>
              <a:latin typeface="Aptos" panose="020B0004020202020204" pitchFamily="34" charset="0"/>
              <a:ea typeface="Aptos"/>
              <a:cs typeface="Aptos"/>
              <a:sym typeface="Apto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882701" y="6840104"/>
            <a:ext cx="7294226" cy="1734884"/>
            <a:chOff x="0" y="0"/>
            <a:chExt cx="9725635" cy="23132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7602" y="7115004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CANVAS ÖZETİ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602" y="7373538"/>
            <a:ext cx="674442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tr-TR" sz="138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Güvenilir Altyapı:</a:t>
            </a:r>
            <a:r>
              <a:rPr lang="tr-TR" sz="138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 Gemini API ve çok dilli </a:t>
            </a:r>
            <a:r>
              <a:rPr lang="tr-TR" sz="138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embedding</a:t>
            </a:r>
            <a:r>
              <a:rPr lang="tr-TR" sz="138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 ile uydurma (halüsinasyon) engellenir, sadece doğrulanmış referanslı yanıtlar sunulur.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tr-TR" sz="138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Sürekli Öğrenme:</a:t>
            </a:r>
            <a:r>
              <a:rPr lang="tr-TR" sz="138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 Kanıt yetersizliğinde insana yönlendirme yapılır, admin onaylı şeffaf bilgi tabanı genişlemesi sağlanır.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706936" y="2941711"/>
            <a:ext cx="7911932" cy="5619569"/>
            <a:chOff x="0" y="0"/>
            <a:chExt cx="10549242" cy="74927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9255" cy="7492746"/>
            </a:xfrm>
            <a:custGeom>
              <a:avLst/>
              <a:gdLst/>
              <a:ahLst/>
              <a:cxnLst/>
              <a:rect l="l" t="t" r="r" b="b"/>
              <a:pathLst>
                <a:path w="10549255" h="7492746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300464" y="0"/>
                  </a:lnTo>
                  <a:cubicBezTo>
                    <a:pt x="9990201" y="0"/>
                    <a:pt x="10549255" y="559054"/>
                    <a:pt x="10549255" y="1248791"/>
                  </a:cubicBezTo>
                  <a:lnTo>
                    <a:pt x="10549255" y="6243955"/>
                  </a:lnTo>
                  <a:cubicBezTo>
                    <a:pt x="10549255" y="6933692"/>
                    <a:pt x="9990201" y="7492746"/>
                    <a:pt x="9300464" y="7492746"/>
                  </a:cubicBezTo>
                  <a:lnTo>
                    <a:pt x="1248791" y="7492746"/>
                  </a:lnTo>
                  <a:cubicBezTo>
                    <a:pt x="559054" y="7492746"/>
                    <a:pt x="0" y="6933692"/>
                    <a:pt x="0" y="62439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036748" y="3244072"/>
            <a:ext cx="725231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36748" y="3756155"/>
            <a:ext cx="725231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7615503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08 / Rakipler - Alternatif Çözümler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435" y="2145935"/>
            <a:ext cx="15611894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Alternatifleri ve çözümünüzün rekabet avantajını somut biçimde ortaya koyun.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7294226" cy="1734903"/>
            <a:chOff x="0" y="0"/>
            <a:chExt cx="9725635" cy="23132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ALTERNATİFLER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602" y="3462900"/>
            <a:ext cx="6744424" cy="108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Mevcut Alternatif 1: İnsan destekli ekiplerin manuel olarak e-postalara dönmesi.</a:t>
            </a: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Mevcut Alternatif 2: Eski nesil, kural tabanlı botlar sadece ezberletilen kalıplara cevap veren yapı.</a:t>
            </a: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Mevcut Alternatif 3: </a:t>
            </a:r>
            <a:r>
              <a:rPr lang="tr-TR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gibi kurum kaynaklarına erişimi olmayan standart üretken yapay zekalar.</a:t>
            </a:r>
            <a:endParaRPr lang="en-US" sz="1379" dirty="0">
              <a:solidFill>
                <a:srgbClr val="5F6C78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82701" y="4890907"/>
            <a:ext cx="7294226" cy="1734903"/>
            <a:chOff x="0" y="0"/>
            <a:chExt cx="9725635" cy="2313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7602" y="5165808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FARKIMIZ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7602" y="5458673"/>
            <a:ext cx="6744424" cy="108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Sisteminizi manuel, ezber kalıplarında sıkışmış ve standart yapay zekalardan ayıran temel fark; </a:t>
            </a:r>
            <a:r>
              <a:rPr lang="tr-T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doğrulanmış kaynak havuzuna dayalı RAG mimarisi</a:t>
            </a:r>
            <a:r>
              <a:rPr lang="tr-T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kullanmasıdır. Modeliniz, soruyu doğal dilde anlar, sadece yüklenen güncel şartname/kılavuzlardan kaynak göstererek yanıt üretir ve yeterli kanıt yoksa uydurmak yerine destek ekibine (insana) yönlendirir.</a:t>
            </a:r>
            <a:endParaRPr lang="en-US" sz="1379" dirty="0">
              <a:solidFill>
                <a:schemeClr val="tx1">
                  <a:lumMod val="50000"/>
                  <a:lumOff val="50000"/>
                </a:schemeClr>
              </a:solidFill>
              <a:latin typeface="Aptos" panose="020B0004020202020204" pitchFamily="34" charset="0"/>
              <a:ea typeface="Aptos"/>
              <a:cs typeface="Aptos"/>
              <a:sym typeface="Apto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882701" y="6840103"/>
            <a:ext cx="7294226" cy="1734903"/>
            <a:chOff x="0" y="0"/>
            <a:chExt cx="9725635" cy="23132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7602" y="7115004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REKABET AVANTAJI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602" y="7407869"/>
            <a:ext cx="6744424" cy="64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FastAPI</a:t>
            </a:r>
            <a:r>
              <a:rPr lang="tr-T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tr-T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Cloudflare</a:t>
            </a:r>
            <a:r>
              <a:rPr lang="tr-T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ilişkisel </a:t>
            </a:r>
            <a:r>
              <a:rPr lang="tr-T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veritabanı</a:t>
            </a:r>
            <a:r>
              <a:rPr lang="tr-T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ve vektör </a:t>
            </a:r>
            <a:r>
              <a:rPr lang="tr-T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veritabanı</a:t>
            </a:r>
            <a:r>
              <a:rPr lang="tr-T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gibi modern ve hızlı teknolojilerle kurduğumuz altyapı sayesinde; geliştirdiğimiz RAG modeli kullanan tarafların sistemlerine kararlı ve güvenli bir şekilde çalışacaktır..</a:t>
            </a:r>
            <a:endParaRPr lang="en-US" sz="1379" dirty="0">
              <a:solidFill>
                <a:schemeClr val="tx1">
                  <a:lumMod val="50000"/>
                  <a:lumOff val="50000"/>
                </a:schemeClr>
              </a:solidFill>
              <a:latin typeface="Aptos" panose="020B0004020202020204" pitchFamily="34" charset="0"/>
              <a:ea typeface="Aptos"/>
              <a:cs typeface="Aptos"/>
              <a:sym typeface="Apto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8706936" y="2941711"/>
            <a:ext cx="7911932" cy="5619569"/>
            <a:chOff x="0" y="0"/>
            <a:chExt cx="10549242" cy="74927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9255" cy="7492746"/>
            </a:xfrm>
            <a:custGeom>
              <a:avLst/>
              <a:gdLst/>
              <a:ahLst/>
              <a:cxnLst/>
              <a:rect l="l" t="t" r="r" b="b"/>
              <a:pathLst>
                <a:path w="10549255" h="7492746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300464" y="0"/>
                  </a:lnTo>
                  <a:cubicBezTo>
                    <a:pt x="9990201" y="0"/>
                    <a:pt x="10549255" y="559054"/>
                    <a:pt x="10549255" y="1248791"/>
                  </a:cubicBezTo>
                  <a:lnTo>
                    <a:pt x="10549255" y="6243955"/>
                  </a:lnTo>
                  <a:cubicBezTo>
                    <a:pt x="10549255" y="6933692"/>
                    <a:pt x="9990201" y="7492746"/>
                    <a:pt x="9300464" y="7492746"/>
                  </a:cubicBezTo>
                  <a:lnTo>
                    <a:pt x="1248791" y="7492746"/>
                  </a:lnTo>
                  <a:cubicBezTo>
                    <a:pt x="559054" y="7492746"/>
                    <a:pt x="0" y="6933692"/>
                    <a:pt x="0" y="62439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036748" y="3244072"/>
            <a:ext cx="725231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36748" y="3756155"/>
            <a:ext cx="725231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</a:t>
            </a:r>
          </a:p>
        </p:txBody>
      </p:sp>
      <p:pic>
        <p:nvPicPr>
          <p:cNvPr id="38" name="Resim 37">
            <a:extLst>
              <a:ext uri="{FF2B5EF4-FFF2-40B4-BE49-F238E27FC236}">
                <a16:creationId xmlns:a16="http://schemas.microsoft.com/office/drawing/2014/main" id="{878EE565-19DB-3A0F-30CC-6699EAF47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524" y="2948172"/>
            <a:ext cx="7911941" cy="56268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4355973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09 / Ekip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435" y="2145935"/>
            <a:ext cx="15611894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Takımın projeyi hayata geçirecek yetkinliklerini ve rol dağılımını gösterin.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7294226" cy="1734903"/>
            <a:chOff x="0" y="0"/>
            <a:chExt cx="9725635" cy="23132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TAKIM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602" y="3728704"/>
            <a:ext cx="6744424" cy="866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- Yunus AYYILDIZ (Takım Kaptanı)</a:t>
            </a: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- Murat Can KÜÇÜKKILIÇ (Takım Üyesi)</a:t>
            </a: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- Emre ALICI (Takım Üyesi)</a:t>
            </a: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- Muhammed Mustafa ÖZDEMİR (Takım Üyesi)</a:t>
            </a:r>
            <a:endParaRPr lang="en-US" sz="1379" dirty="0">
              <a:solidFill>
                <a:srgbClr val="5F6C78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82701" y="4890907"/>
            <a:ext cx="7294226" cy="1734903"/>
            <a:chOff x="0" y="0"/>
            <a:chExt cx="9725635" cy="2313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7602" y="5165808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ROLLER / UZMANLIK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7602" y="5677900"/>
            <a:ext cx="6744424" cy="866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Yunus AYYILDIZ –  AI &amp; Full-</a:t>
            </a:r>
            <a:r>
              <a:rPr lang="tr-TR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Stack</a:t>
            </a: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tr-TR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Implementation</a:t>
            </a:r>
            <a:endParaRPr lang="tr-TR" sz="1379" dirty="0">
              <a:solidFill>
                <a:srgbClr val="5F6C78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Murat Can KÜÇÜKKILIÇ - Yazılım &amp; Güvenlik mimarisi</a:t>
            </a: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Emre ALICI – Yapay Zeka Entegrasyonu &amp; Deployment</a:t>
            </a:r>
          </a:p>
          <a:p>
            <a:pPr algn="l">
              <a:lnSpc>
                <a:spcPts val="1655"/>
              </a:lnSpc>
            </a:pP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Muhammed Mustafa ÖZDEMİR</a:t>
            </a:r>
            <a:endParaRPr lang="en-US" sz="1379" dirty="0">
              <a:solidFill>
                <a:srgbClr val="5F6C78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882701" y="6840103"/>
            <a:ext cx="7294226" cy="1734903"/>
            <a:chOff x="0" y="0"/>
            <a:chExt cx="9725635" cy="23132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7602" y="7115004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NOT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602" y="7627096"/>
            <a:ext cx="6744424" cy="70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Kişisel</a:t>
            </a:r>
            <a:r>
              <a:rPr lang="en-US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iletişim</a:t>
            </a:r>
            <a:r>
              <a:rPr lang="en-US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bilgisi</a:t>
            </a:r>
            <a:r>
              <a:rPr lang="en-US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paylaşmayınız</a:t>
            </a:r>
            <a:r>
              <a:rPr lang="en-US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706936" y="2941711"/>
            <a:ext cx="7911932" cy="5619569"/>
            <a:chOff x="0" y="0"/>
            <a:chExt cx="10549242" cy="74927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9255" cy="7492746"/>
            </a:xfrm>
            <a:custGeom>
              <a:avLst/>
              <a:gdLst/>
              <a:ahLst/>
              <a:cxnLst/>
              <a:rect l="l" t="t" r="r" b="b"/>
              <a:pathLst>
                <a:path w="10549255" h="7492746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300464" y="0"/>
                  </a:lnTo>
                  <a:cubicBezTo>
                    <a:pt x="9990201" y="0"/>
                    <a:pt x="10549255" y="559054"/>
                    <a:pt x="10549255" y="1248791"/>
                  </a:cubicBezTo>
                  <a:lnTo>
                    <a:pt x="10549255" y="6243955"/>
                  </a:lnTo>
                  <a:cubicBezTo>
                    <a:pt x="10549255" y="6933692"/>
                    <a:pt x="9990201" y="7492746"/>
                    <a:pt x="9300464" y="7492746"/>
                  </a:cubicBezTo>
                  <a:lnTo>
                    <a:pt x="1248791" y="7492746"/>
                  </a:lnTo>
                  <a:cubicBezTo>
                    <a:pt x="559054" y="7492746"/>
                    <a:pt x="0" y="6933692"/>
                    <a:pt x="0" y="62439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036748" y="3244072"/>
            <a:ext cx="725231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36748" y="3756155"/>
            <a:ext cx="725231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</a:t>
            </a:r>
          </a:p>
        </p:txBody>
      </p:sp>
      <p:pic>
        <p:nvPicPr>
          <p:cNvPr id="38" name="Resim 37">
            <a:extLst>
              <a:ext uri="{FF2B5EF4-FFF2-40B4-BE49-F238E27FC236}">
                <a16:creationId xmlns:a16="http://schemas.microsoft.com/office/drawing/2014/main" id="{FEF7CCF0-B043-77BB-2261-FA481EE92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936" y="2941712"/>
            <a:ext cx="8057064" cy="56195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4355973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10 / Sonraki Adımlar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435" y="2145935"/>
            <a:ext cx="15611894" cy="43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Kısa vadeli geliştirme, ürünleştirme ve ihtiyaç duyulan desteği netleştirin.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2701" y="2941711"/>
            <a:ext cx="7294226" cy="1734903"/>
            <a:chOff x="0" y="0"/>
            <a:chExt cx="9725635" cy="23132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57602" y="3216612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KISA VADE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602" y="3591849"/>
            <a:ext cx="6744424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Geliştirilmekte olan özelliklerin (beğen/beğenme, genişletilmiş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analitik, güncellenmiş rol modeli) ekip incelemesinden sonra canlı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ürüne alınması; canlı ortamdaki yönetici hesabı şifresinin gerçek bir</a:t>
            </a:r>
          </a:p>
          <a:p>
            <a:r>
              <a:rPr lang="tr-TR" sz="13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değerle güncellenmesi.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82701" y="4890907"/>
            <a:ext cx="7294226" cy="1734903"/>
            <a:chOff x="0" y="0"/>
            <a:chExt cx="9725635" cy="2313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7602" y="5165808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ÜRÜNLEŞTİRME / BÜYÜME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7602" y="5677900"/>
            <a:ext cx="6744424" cy="86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380" b="1" dirty="0">
                <a:latin typeface="Aptos" panose="020B0004020202020204" pitchFamily="34" charset="0"/>
              </a:rPr>
              <a:t>(</a:t>
            </a:r>
            <a:r>
              <a:rPr lang="tr-TR" sz="138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Ürünleştirme / B2B):</a:t>
            </a: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Bu sistemi ilk olarak </a:t>
            </a:r>
            <a:r>
              <a:rPr lang="tr-TR" sz="138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TEKNOFEST'te</a:t>
            </a: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başarıyla uygulayıp, sonrasında benzer yoğun başvuru alan kurumlara, üniversitelere veya diğer yarışma organizasyonlarına (B2B - Kurumdan kuruma) </a:t>
            </a:r>
            <a:r>
              <a:rPr lang="tr-TR" sz="138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lisanslayarak/satarak</a:t>
            </a:r>
            <a:r>
              <a:rPr lang="tr-TR" sz="138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 gelir elde etmeyi hedefliyoruz.</a:t>
            </a:r>
            <a:endParaRPr lang="en-US" sz="1380" dirty="0">
              <a:solidFill>
                <a:schemeClr val="tx1">
                  <a:lumMod val="50000"/>
                  <a:lumOff val="50000"/>
                </a:schemeClr>
              </a:solidFill>
              <a:latin typeface="Aptos" panose="020B0004020202020204" pitchFamily="34" charset="0"/>
              <a:ea typeface="Aptos"/>
              <a:cs typeface="Aptos"/>
              <a:sym typeface="Apto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882701" y="6840103"/>
            <a:ext cx="7294226" cy="1734903"/>
            <a:chOff x="0" y="0"/>
            <a:chExt cx="9725635" cy="23132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5660" cy="2313178"/>
            </a:xfrm>
            <a:custGeom>
              <a:avLst/>
              <a:gdLst/>
              <a:ahLst/>
              <a:cxnLst/>
              <a:rect l="l" t="t" r="r" b="b"/>
              <a:pathLst>
                <a:path w="9725660" h="231317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340088" y="0"/>
                  </a:lnTo>
                  <a:cubicBezTo>
                    <a:pt x="9553067" y="0"/>
                    <a:pt x="9725660" y="172593"/>
                    <a:pt x="9725660" y="385572"/>
                  </a:cubicBezTo>
                  <a:lnTo>
                    <a:pt x="9725660" y="1927606"/>
                  </a:lnTo>
                  <a:cubicBezTo>
                    <a:pt x="9725660" y="2140585"/>
                    <a:pt x="9553067" y="2313178"/>
                    <a:pt x="9340088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157602" y="7115004"/>
            <a:ext cx="6744424" cy="29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GEREKEN KAYNAK / DESTEK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7602" y="7627096"/>
            <a:ext cx="6744424" cy="21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tr-TR" sz="1379" dirty="0" err="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Mentör</a:t>
            </a:r>
            <a:r>
              <a:rPr lang="tr-TR" sz="1379" dirty="0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, ofis, sunucu </a:t>
            </a:r>
            <a:endParaRPr lang="en-US" sz="1379" dirty="0">
              <a:solidFill>
                <a:srgbClr val="5F6C78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8706936" y="2941711"/>
            <a:ext cx="7911932" cy="5619569"/>
            <a:chOff x="0" y="0"/>
            <a:chExt cx="10549242" cy="74927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9255" cy="7492746"/>
            </a:xfrm>
            <a:custGeom>
              <a:avLst/>
              <a:gdLst/>
              <a:ahLst/>
              <a:cxnLst/>
              <a:rect l="l" t="t" r="r" b="b"/>
              <a:pathLst>
                <a:path w="10549255" h="7492746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300464" y="0"/>
                  </a:lnTo>
                  <a:cubicBezTo>
                    <a:pt x="9990201" y="0"/>
                    <a:pt x="10549255" y="559054"/>
                    <a:pt x="10549255" y="1248791"/>
                  </a:cubicBezTo>
                  <a:lnTo>
                    <a:pt x="10549255" y="6243955"/>
                  </a:lnTo>
                  <a:cubicBezTo>
                    <a:pt x="10549255" y="6933692"/>
                    <a:pt x="9990201" y="7492746"/>
                    <a:pt x="9300464" y="7492746"/>
                  </a:cubicBezTo>
                  <a:lnTo>
                    <a:pt x="1248791" y="7492746"/>
                  </a:lnTo>
                  <a:cubicBezTo>
                    <a:pt x="559054" y="7492746"/>
                    <a:pt x="0" y="6933692"/>
                    <a:pt x="0" y="624395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5D6DF"/>
              </a:solidFill>
              <a:prstDash val="dash"/>
              <a:miter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9036748" y="3244072"/>
            <a:ext cx="7252316" cy="3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1">
                <a:solidFill>
                  <a:srgbClr val="173B5B"/>
                </a:solidFill>
                <a:latin typeface="Aptos Bold"/>
                <a:ea typeface="Aptos Bold"/>
                <a:cs typeface="Aptos Bold"/>
                <a:sym typeface="Aptos Bold"/>
              </a:rPr>
              <a:t>GÖRSEL / DİYAGRAM / EKRAN GÖRÜNTÜSÜ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36748" y="3756155"/>
            <a:ext cx="7252316" cy="3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F6C78"/>
                </a:solidFill>
                <a:latin typeface="Aptos"/>
                <a:ea typeface="Aptos"/>
                <a:cs typeface="Aptos"/>
                <a:sym typeface="Aptos"/>
              </a:rPr>
              <a:t>Bu alana anlatımı destekleyen görselinizi yerleştirin.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0313" cy="10295039"/>
            <a:chOff x="0" y="0"/>
            <a:chExt cx="18708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071" cy="13726668"/>
            </a:xfrm>
            <a:custGeom>
              <a:avLst/>
              <a:gdLst/>
              <a:ahLst/>
              <a:cxnLst/>
              <a:rect l="l" t="t" r="r" b="b"/>
              <a:pathLst>
                <a:path w="187071" h="13726668">
                  <a:moveTo>
                    <a:pt x="0" y="0"/>
                  </a:moveTo>
                  <a:lnTo>
                    <a:pt x="187071" y="0"/>
                  </a:lnTo>
                  <a:lnTo>
                    <a:pt x="1870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313" y="0"/>
            <a:ext cx="982218" cy="121977"/>
            <a:chOff x="0" y="0"/>
            <a:chExt cx="1309624" cy="162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28636" y="0"/>
            <a:ext cx="982218" cy="121977"/>
            <a:chOff x="0" y="0"/>
            <a:chExt cx="1309624" cy="16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116960" y="0"/>
            <a:ext cx="982218" cy="121977"/>
            <a:chOff x="0" y="0"/>
            <a:chExt cx="1309624" cy="162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9624" cy="162687"/>
            </a:xfrm>
            <a:custGeom>
              <a:avLst/>
              <a:gdLst/>
              <a:ahLst/>
              <a:cxnLst/>
              <a:rect l="l" t="t" r="r" b="b"/>
              <a:pathLst>
                <a:path w="1309624" h="162687">
                  <a:moveTo>
                    <a:pt x="0" y="0"/>
                  </a:moveTo>
                  <a:lnTo>
                    <a:pt x="1309624" y="0"/>
                  </a:lnTo>
                  <a:lnTo>
                    <a:pt x="1309624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105293" y="0"/>
            <a:ext cx="15197004" cy="121977"/>
            <a:chOff x="0" y="0"/>
            <a:chExt cx="20262672" cy="162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262723" cy="162687"/>
            </a:xfrm>
            <a:custGeom>
              <a:avLst/>
              <a:gdLst/>
              <a:ahLst/>
              <a:cxnLst/>
              <a:rect l="l" t="t" r="r" b="b"/>
              <a:pathLst>
                <a:path w="20262723" h="162687">
                  <a:moveTo>
                    <a:pt x="0" y="0"/>
                  </a:moveTo>
                  <a:lnTo>
                    <a:pt x="20262723" y="0"/>
                  </a:lnTo>
                  <a:lnTo>
                    <a:pt x="20262723" y="162687"/>
                  </a:lnTo>
                  <a:lnTo>
                    <a:pt x="0" y="162687"/>
                  </a:lnTo>
                  <a:close/>
                </a:path>
              </a:pathLst>
            </a:custGeom>
            <a:solidFill>
              <a:srgbClr val="173B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7490891" y="304943"/>
            <a:ext cx="176917" cy="176870"/>
            <a:chOff x="0" y="0"/>
            <a:chExt cx="235890" cy="235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C4312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734921" y="304943"/>
            <a:ext cx="176917" cy="176870"/>
            <a:chOff x="0" y="0"/>
            <a:chExt cx="235890" cy="2358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EE7D2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985057" y="304943"/>
            <a:ext cx="176917" cy="176870"/>
            <a:chOff x="0" y="0"/>
            <a:chExt cx="235890" cy="2358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839" cy="235839"/>
            </a:xfrm>
            <a:custGeom>
              <a:avLst/>
              <a:gdLst/>
              <a:ahLst/>
              <a:cxnLst/>
              <a:rect l="l" t="t" r="r" b="b"/>
              <a:pathLst>
                <a:path w="235839" h="235839">
                  <a:moveTo>
                    <a:pt x="0" y="0"/>
                  </a:moveTo>
                  <a:lnTo>
                    <a:pt x="235839" y="0"/>
                  </a:lnTo>
                  <a:lnTo>
                    <a:pt x="235839" y="235839"/>
                  </a:lnTo>
                  <a:lnTo>
                    <a:pt x="0" y="235839"/>
                  </a:lnTo>
                  <a:close/>
                </a:path>
              </a:pathLst>
            </a:custGeom>
            <a:solidFill>
              <a:srgbClr val="2AA8C6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7245327" y="9832896"/>
            <a:ext cx="375228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1">
                <a:solidFill>
                  <a:srgbClr val="5F6C78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435" y="782784"/>
            <a:ext cx="4355973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477A4"/>
                </a:solidFill>
                <a:latin typeface="Aptos Bold"/>
                <a:ea typeface="Aptos Bold"/>
                <a:cs typeface="Aptos Bold"/>
                <a:sym typeface="Aptos Bold"/>
              </a:rPr>
              <a:t>11 / Kapanış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81800" y="7658100"/>
            <a:ext cx="9853994" cy="39376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071"/>
              </a:lnSpc>
            </a:pPr>
            <a:r>
              <a:rPr lang="tr-TR" sz="5400" b="1" i="1" dirty="0">
                <a:solidFill>
                  <a:schemeClr val="tx2"/>
                </a:solidFill>
                <a:latin typeface="Aptos" panose="020B0004020202020204" pitchFamily="34" charset="0"/>
                <a:ea typeface="Aptos"/>
                <a:cs typeface="Aptos"/>
                <a:sym typeface="Aptos"/>
              </a:rPr>
              <a:t>Dinlediğiniz için teşekkürler..</a:t>
            </a:r>
            <a:endParaRPr lang="en-US" sz="5400" b="1" i="1" dirty="0">
              <a:solidFill>
                <a:schemeClr val="tx2"/>
              </a:solidFill>
              <a:latin typeface="Aptos" panose="020B0004020202020204" pitchFamily="34" charset="0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1469</Words>
  <Application>Microsoft Office PowerPoint</Application>
  <PresentationFormat>Özel</PresentationFormat>
  <Paragraphs>209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Arial</vt:lpstr>
      <vt:lpstr>Calibri</vt:lpstr>
      <vt:lpstr>Aptos Bold</vt:lpstr>
      <vt:lpstr>Aptos</vt:lpstr>
      <vt:lpstr>Montserrat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T3 BURSİYER YAPAY ZEKA CREATHON SUNUM ŞABLONU</dc:title>
  <cp:lastModifiedBy>Emre Alıcı</cp:lastModifiedBy>
  <cp:revision>3</cp:revision>
  <dcterms:created xsi:type="dcterms:W3CDTF">2006-08-16T00:00:00Z</dcterms:created>
  <dcterms:modified xsi:type="dcterms:W3CDTF">2026-08-26T21:16:41Z</dcterms:modified>
  <dc:identifier>DAHTSjowm10</dc:identifier>
</cp:coreProperties>
</file>